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8288000" cy="10287000"/>
  <p:notesSz cx="6858000" cy="9144000"/>
  <p:embeddedFontLst>
    <p:embeddedFont>
      <p:font typeface="HanbatBatang Bold" panose="020B0604020202020204" charset="-127"/>
      <p:bold r:id="rId17"/>
    </p:embeddedFont>
    <p:embeddedFont>
      <p:font typeface="HanbatBatang Light" panose="020B0604020202020204" charset="-127"/>
      <p:regular r:id="rId18"/>
    </p:embeddedFont>
    <p:embeddedFont>
      <p:font typeface="THELuxGoEB" panose="020B0604020202020204" charset="-127"/>
      <p:regular r:id="rId19"/>
    </p:embeddedFont>
    <p:embeddedFont>
      <p:font typeface="THELuxGoM" panose="020B0604020202020204" charset="-127"/>
      <p:regular r:id="rId20"/>
    </p:embeddedFont>
    <p:embeddedFont>
      <p:font typeface="맑은 고딕" panose="020B0503020000020004" pitchFamily="34" charset="-12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8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1A74D-4A2C-4CF7-A46B-42A90BD4DE9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55E-2F0C-4B9A-9A03-CF6BC34BB2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79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55E-2F0C-4B9A-9A03-CF6BC34BB28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16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1.svg"/><Relationship Id="rId7" Type="http://schemas.openxmlformats.org/officeDocument/2006/relationships/image" Target="../media/image14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4.svg"/><Relationship Id="rId10" Type="http://schemas.openxmlformats.org/officeDocument/2006/relationships/image" Target="../media/image17.svg"/><Relationship Id="rId4" Type="http://schemas.openxmlformats.org/officeDocument/2006/relationships/image" Target="../media/image3.sv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microsoft.com/office/2007/relationships/hdphoto" Target="../media/hdphoto2.wdp"/><Relationship Id="rId5" Type="http://schemas.openxmlformats.org/officeDocument/2006/relationships/image" Target="../media/image3.svg"/><Relationship Id="rId10" Type="http://schemas.openxmlformats.org/officeDocument/2006/relationships/image" Target="../media/image20.png"/><Relationship Id="rId4" Type="http://schemas.openxmlformats.org/officeDocument/2006/relationships/image" Target="../media/image11.svg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1.svg"/><Relationship Id="rId7" Type="http://schemas.openxmlformats.org/officeDocument/2006/relationships/image" Target="../media/image26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microsoft.com/office/2007/relationships/hdphoto" Target="../media/hdphoto3.wdp"/><Relationship Id="rId7" Type="http://schemas.openxmlformats.org/officeDocument/2006/relationships/image" Target="../media/image4.svg"/><Relationship Id="rId12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34.svg"/><Relationship Id="rId5" Type="http://schemas.openxmlformats.org/officeDocument/2006/relationships/image" Target="../media/image11.svg"/><Relationship Id="rId10" Type="http://schemas.openxmlformats.org/officeDocument/2006/relationships/image" Target="../media/image33.svg"/><Relationship Id="rId4" Type="http://schemas.openxmlformats.org/officeDocument/2006/relationships/image" Target="../media/image10.svg"/><Relationship Id="rId9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1.svg"/><Relationship Id="rId7" Type="http://schemas.openxmlformats.org/officeDocument/2006/relationships/image" Target="../media/image38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11" Type="http://schemas.openxmlformats.org/officeDocument/2006/relationships/image" Target="../media/image39.svg"/><Relationship Id="rId5" Type="http://schemas.openxmlformats.org/officeDocument/2006/relationships/image" Target="../media/image4.svg"/><Relationship Id="rId10" Type="http://schemas.openxmlformats.org/officeDocument/2006/relationships/image" Target="../media/image24.svg"/><Relationship Id="rId4" Type="http://schemas.openxmlformats.org/officeDocument/2006/relationships/image" Target="../media/image3.svg"/><Relationship Id="rId9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1.svg"/><Relationship Id="rId7" Type="http://schemas.openxmlformats.org/officeDocument/2006/relationships/image" Target="../media/image26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825500"/>
            <a:ext cx="1537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79500" y="11303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400" y="7874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400" y="787400"/>
            <a:ext cx="25273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1422400" y="9461500"/>
            <a:ext cx="15379700" cy="6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6370300" y="9055100"/>
            <a:ext cx="876300" cy="177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3728700" y="9398000"/>
            <a:ext cx="3162300" cy="177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14363700" y="9410700"/>
            <a:ext cx="25273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1900" y="8216900"/>
            <a:ext cx="5664200" cy="6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1900" y="8966200"/>
            <a:ext cx="5664200" cy="63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628900" y="6210300"/>
            <a:ext cx="13017500" cy="9525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2035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미래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종교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디자인</a:t>
            </a:r>
            <a:endParaRPr lang="en-US" sz="2800" b="0" i="0" u="none" strike="noStrike" spc="-100" dirty="0">
              <a:solidFill>
                <a:srgbClr val="000000"/>
              </a:solidFill>
              <a:latin typeface="HanbatBatang Bold"/>
              <a:ea typeface="HanbatBatang Bold"/>
              <a:cs typeface="HanbatBatang Bold"/>
            </a:endParaRPr>
          </a:p>
          <a:p>
            <a:pPr lvl="0" algn="ctr">
              <a:lnSpc>
                <a:spcPct val="99600"/>
              </a:lnSpc>
            </a:pPr>
            <a:r>
              <a:rPr lang="en-US" sz="2800" b="0" i="0" u="none" strike="noStrike" spc="-1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다종교가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함께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사용하는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영적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인프라</a:t>
            </a:r>
            <a:endParaRPr lang="en-US" sz="2800" b="0" i="0" u="none" strike="noStrike" spc="-100" dirty="0">
              <a:solidFill>
                <a:srgbClr val="000000"/>
              </a:solidFill>
              <a:latin typeface="HanbatBatang Bold"/>
              <a:ea typeface="HanbatBatang Bold"/>
              <a:cs typeface="HanbatBatang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35150" y="3347853"/>
            <a:ext cx="14757400" cy="2006600"/>
          </a:xfrm>
          <a:prstGeom prst="rect">
            <a:avLst/>
          </a:prstGeom>
        </p:spPr>
        <p:txBody>
          <a:bodyPr lIns="0" tIns="140970" rIns="0" bIns="140970" rtlCol="0" anchor="ctr"/>
          <a:lstStyle/>
          <a:p>
            <a:pPr lvl="0" algn="ctr">
              <a:lnSpc>
                <a:spcPct val="99600"/>
              </a:lnSpc>
            </a:pPr>
            <a:r>
              <a:rPr lang="en-US" sz="9600" b="0" i="0" u="none" strike="noStrike" spc="-2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공명</a:t>
            </a:r>
            <a:r>
              <a:rPr lang="en-US" sz="9600" b="0" i="0" u="none" strike="noStrike" spc="-2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(</a:t>
            </a:r>
            <a:r>
              <a:rPr lang="en-US" sz="9600" b="0" i="0" u="none" strike="noStrike" spc="-2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共鳴</a:t>
            </a:r>
            <a:r>
              <a:rPr lang="en-US" sz="9600" b="0" i="0" u="none" strike="noStrike" spc="-2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) </a:t>
            </a:r>
            <a:r>
              <a:rPr lang="en-US" sz="9600" b="0" i="0" u="none" strike="noStrike" spc="-200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스테이션</a:t>
            </a:r>
            <a:endParaRPr lang="en-US" sz="9600" b="0" i="0" u="none" strike="noStrike" spc="-200" dirty="0">
              <a:solidFill>
                <a:srgbClr val="000000"/>
              </a:solidFill>
              <a:latin typeface="HanbatBatang Bold"/>
              <a:ea typeface="HanbatBatang Bold"/>
              <a:cs typeface="HanbatBatang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286500" y="8369300"/>
            <a:ext cx="5715000" cy="482600"/>
          </a:xfrm>
          <a:prstGeom prst="rect">
            <a:avLst/>
          </a:prstGeom>
        </p:spPr>
        <p:txBody>
          <a:bodyPr lIns="0" tIns="3302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6조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184746" y="4568898"/>
            <a:ext cx="39243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88459" y="3995183"/>
            <a:ext cx="36957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5289"/>
              </a:lnSpc>
            </a:pPr>
            <a:r>
              <a:rPr lang="ko-KR" alt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연결은 늘었지만</a:t>
            </a:r>
            <a:r>
              <a:rPr lang="en-US" altLang="ko-KR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ko-KR" alt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끝까지 들어 주는 자리는 줄었다</a:t>
            </a:r>
            <a:r>
              <a:rPr lang="en-US" altLang="ko-KR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9259" y="3410983"/>
            <a:ext cx="3594100" cy="444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경청</a:t>
            </a:r>
            <a:r>
              <a:rPr lang="en-US" sz="24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공간의</a:t>
            </a:r>
            <a:r>
              <a:rPr lang="en-US" sz="24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희소화</a:t>
            </a:r>
            <a:endParaRPr lang="en-US" sz="24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4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설계 </a:t>
            </a:r>
            <a:r>
              <a:rPr lang="ko-KR" altLang="en-US" sz="54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근거</a:t>
            </a:r>
            <a:r>
              <a:rPr lang="ko-KR" altLang="en-US" sz="54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endParaRPr lang="en-US" altLang="ko-KR" sz="5400" b="0" i="0" u="none" strike="noStrike" dirty="0">
              <a:solidFill>
                <a:srgbClr val="000000"/>
              </a:solidFill>
              <a:latin typeface="HanbatBatang Bold"/>
              <a:ea typeface="HanbatBatang Bold"/>
              <a:cs typeface="HanbatBatang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174659" y="3982483"/>
            <a:ext cx="40259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5289"/>
              </a:lnSpc>
            </a:pPr>
            <a:r>
              <a:rPr lang="ko-KR" alt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종교도 성찰 없는 ‘</a:t>
            </a:r>
            <a:r>
              <a:rPr lang="ko-KR" alt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믿기만’으로</a:t>
            </a:r>
            <a:r>
              <a:rPr lang="ko-KR" alt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기울기 쉽다</a:t>
            </a:r>
            <a:r>
              <a:rPr lang="en-US" altLang="ko-KR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 </a:t>
            </a:r>
            <a:r>
              <a:rPr lang="ko-KR" alt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매개가 우상이 되면 질문은 막히고</a:t>
            </a:r>
            <a:r>
              <a:rPr lang="en-US" altLang="ko-KR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ko-KR" alt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돌봄은 형식만 남는다</a:t>
            </a:r>
            <a:r>
              <a:rPr lang="en-US" altLang="ko-KR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390559" y="3410983"/>
            <a:ext cx="3594100" cy="444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제도</a:t>
            </a:r>
            <a:r>
              <a:rPr lang="en-US" sz="24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종교</a:t>
            </a:r>
            <a:r>
              <a:rPr lang="en-US" sz="24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시설</a:t>
            </a:r>
            <a:endParaRPr lang="en-US" sz="24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213259" y="3995183"/>
            <a:ext cx="4064000" cy="257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AI와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매개체는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숭배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대상이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아니다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  <a:p>
            <a:pPr lvl="0" algn="ctr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돌봄과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사랑의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실천을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보여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주고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</a:t>
            </a:r>
          </a:p>
          <a:p>
            <a:pPr lvl="0" algn="ctr">
              <a:lnSpc>
                <a:spcPct val="135289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나–너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관계를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잇는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길잡이여야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41859" y="3385583"/>
            <a:ext cx="3594100" cy="444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매개의</a:t>
            </a:r>
            <a:r>
              <a:rPr lang="en-US" sz="24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의도된</a:t>
            </a:r>
            <a:r>
              <a:rPr lang="en-US" sz="24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역할</a:t>
            </a:r>
            <a:endParaRPr lang="en-US" sz="24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378859" y="3995183"/>
            <a:ext cx="38227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5289"/>
              </a:lnSpc>
            </a:pPr>
            <a:r>
              <a:rPr lang="ko-KR" alt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그래서 숭배 대상을 새로 세우지 않고</a:t>
            </a:r>
            <a:r>
              <a:rPr lang="en-US" altLang="ko-KR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</a:t>
            </a:r>
            <a:r>
              <a:rPr lang="ko-KR" alt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경청과 성찰이 가능한 자리를 일상으로 옮긴다</a:t>
            </a:r>
            <a:r>
              <a:rPr lang="en-US" altLang="ko-KR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93159" y="3410983"/>
            <a:ext cx="3594100" cy="444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미래</a:t>
            </a:r>
            <a:r>
              <a:rPr lang="en-US" sz="24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종교의</a:t>
            </a:r>
            <a:r>
              <a:rPr lang="en-US" sz="24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과제</a:t>
            </a:r>
            <a:endParaRPr lang="en-US" sz="24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E38DF63C-62F1-36FB-70DA-9D92DC726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156450" y="4641850"/>
            <a:ext cx="3924300" cy="50800"/>
          </a:xfrm>
          <a:prstGeom prst="rect">
            <a:avLst/>
          </a:prstGeom>
        </p:spPr>
      </p:pic>
      <p:pic>
        <p:nvPicPr>
          <p:cNvPr id="26" name="Picture 8">
            <a:extLst>
              <a:ext uri="{FF2B5EF4-FFF2-40B4-BE49-F238E27FC236}">
                <a16:creationId xmlns:a16="http://schemas.microsoft.com/office/drawing/2014/main" id="{29077FDD-4826-7771-C900-46448E791D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15109" y="4641850"/>
            <a:ext cx="39243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4200" y="3200400"/>
            <a:ext cx="4775200" cy="50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6200" y="2895600"/>
            <a:ext cx="711200" cy="711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4200" y="7505700"/>
            <a:ext cx="4775200" cy="5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23100" y="3200400"/>
            <a:ext cx="4775200" cy="5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55100" y="2895600"/>
            <a:ext cx="711200" cy="711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9681" y="7505700"/>
            <a:ext cx="4775200" cy="5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04700" y="3175000"/>
            <a:ext cx="4775200" cy="50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36700" y="2857500"/>
            <a:ext cx="711200" cy="711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76347" y="7505700"/>
            <a:ext cx="4775200" cy="50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606800" y="2874926"/>
            <a:ext cx="1651000" cy="685800"/>
          </a:xfrm>
          <a:prstGeom prst="rect">
            <a:avLst/>
          </a:prstGeom>
        </p:spPr>
        <p:txBody>
          <a:bodyPr lIns="0" tIns="49340" rIns="0" bIns="49340" rtlCol="0" anchor="ctr"/>
          <a:lstStyle/>
          <a:p>
            <a:pPr lvl="0" algn="ctr">
              <a:lnSpc>
                <a:spcPct val="98770"/>
              </a:lnSpc>
            </a:pPr>
            <a:r>
              <a:rPr lang="en-US" sz="3700" b="0" i="0" u="none" strike="noStrike" spc="3200" dirty="0">
                <a:solidFill>
                  <a:srgbClr val="000000"/>
                </a:solidFill>
                <a:latin typeface="THELuxGoEB"/>
                <a:ea typeface="THELuxGoEB"/>
                <a:cs typeface="THELuxGoEB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95500" y="4279900"/>
            <a:ext cx="4305300" cy="558800"/>
          </a:xfrm>
          <a:prstGeom prst="rect">
            <a:avLst/>
          </a:prstGeom>
        </p:spPr>
        <p:txBody>
          <a:bodyPr lIns="0" tIns="0" rIns="0" bIns="38100" rtlCol="0" anchor="b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Micro-Care </a:t>
            </a:r>
            <a:r>
              <a:rPr lang="en-US" sz="30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돌봄</a:t>
            </a:r>
            <a:endParaRPr lang="en-US" sz="30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108200" y="5067300"/>
            <a:ext cx="4267200" cy="124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대규모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교리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전파보다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ctr">
              <a:lnSpc>
                <a:spcPct val="132800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미시적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경청과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위로를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우선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  <a:p>
            <a:pPr lvl="0" algn="ctr">
              <a:lnSpc>
                <a:spcPct val="132800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취약함의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무비판적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수용이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핵심이다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88400" y="2895600"/>
            <a:ext cx="1651000" cy="685800"/>
          </a:xfrm>
          <a:prstGeom prst="rect">
            <a:avLst/>
          </a:prstGeom>
        </p:spPr>
        <p:txBody>
          <a:bodyPr lIns="0" tIns="49340" rIns="0" bIns="49340" rtlCol="0" anchor="ctr"/>
          <a:lstStyle/>
          <a:p>
            <a:pPr lvl="0" algn="ctr">
              <a:lnSpc>
                <a:spcPct val="98770"/>
              </a:lnSpc>
            </a:pPr>
            <a:r>
              <a:rPr lang="en-US" sz="3700" b="0" i="0" u="none" strike="noStrike" spc="3200" dirty="0">
                <a:solidFill>
                  <a:srgbClr val="000000"/>
                </a:solidFill>
                <a:latin typeface="THELuxGoEB"/>
                <a:ea typeface="THELuxGoEB"/>
                <a:cs typeface="THELuxGoEB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70000" y="2870200"/>
            <a:ext cx="1651000" cy="685800"/>
          </a:xfrm>
          <a:prstGeom prst="rect">
            <a:avLst/>
          </a:prstGeom>
        </p:spPr>
        <p:txBody>
          <a:bodyPr lIns="0" tIns="49340" rIns="0" bIns="49340" rtlCol="0" anchor="ctr"/>
          <a:lstStyle/>
          <a:p>
            <a:pPr lvl="0" algn="ctr">
              <a:lnSpc>
                <a:spcPct val="98770"/>
              </a:lnSpc>
            </a:pPr>
            <a:r>
              <a:rPr lang="en-US" sz="3700" b="0" i="0" u="none" strike="noStrike" spc="3200">
                <a:solidFill>
                  <a:srgbClr val="000000"/>
                </a:solidFill>
                <a:latin typeface="THELuxGoEB"/>
                <a:ea typeface="THELuxGoEB"/>
                <a:cs typeface="THELuxGoEB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미래</a:t>
            </a: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종교의</a:t>
            </a: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핵심</a:t>
            </a: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세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요소</a:t>
            </a:r>
            <a:endParaRPr lang="en-US" sz="6000" b="0" i="0" u="none" strike="noStrike" dirty="0">
              <a:solidFill>
                <a:srgbClr val="000000"/>
              </a:solidFill>
              <a:latin typeface="HanbatBatang Bold"/>
              <a:ea typeface="HanbatBatang Bold"/>
              <a:cs typeface="HanbatBatang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251700" y="4279900"/>
            <a:ext cx="4292600" cy="558800"/>
          </a:xfrm>
          <a:prstGeom prst="rect">
            <a:avLst/>
          </a:prstGeom>
        </p:spPr>
        <p:txBody>
          <a:bodyPr lIns="0" tIns="0" rIns="0" bIns="38100" rtlCol="0" anchor="b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일상의</a:t>
            </a:r>
            <a:r>
              <a:rPr lang="en-US" sz="30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30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의례</a:t>
            </a:r>
            <a:endParaRPr lang="en-US" sz="30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099300" y="5067300"/>
            <a:ext cx="4610100" cy="167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복지관·구청</a:t>
            </a:r>
            <a:r>
              <a:rPr lang="en-US" sz="2100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로비의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소규모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공간</a:t>
            </a:r>
            <a:r>
              <a:rPr lang="ko-KR" altLang="en-US" sz="2100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에서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ctr">
              <a:lnSpc>
                <a:spcPct val="132800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내려놓음이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의례로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성립한다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  <a:p>
            <a:pPr lvl="0" algn="ctr">
              <a:lnSpc>
                <a:spcPct val="132800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성스러움은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일상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가까이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배치된다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33300" y="4279900"/>
            <a:ext cx="4292600" cy="558800"/>
          </a:xfrm>
          <a:prstGeom prst="rect">
            <a:avLst/>
          </a:prstGeom>
        </p:spPr>
        <p:txBody>
          <a:bodyPr lIns="0" tIns="0" rIns="0" bIns="38100" rtlCol="0" anchor="b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매개체로서의</a:t>
            </a:r>
            <a:r>
              <a:rPr lang="en-US" sz="30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AI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58700" y="5067300"/>
            <a:ext cx="4267200" cy="124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AI는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사제나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절대자가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아니다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  <a:p>
            <a:pPr lvl="0" algn="ctr">
              <a:lnSpc>
                <a:spcPct val="132800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1차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경청과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짧은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위로를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제공하고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</a:t>
            </a:r>
          </a:p>
          <a:p>
            <a:pPr lvl="0" algn="ctr">
              <a:lnSpc>
                <a:spcPct val="132800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필요하면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인간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전문가에게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연계한다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3048000"/>
            <a:ext cx="8623300" cy="50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6146800"/>
            <a:ext cx="86233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627140" y="3632200"/>
            <a:ext cx="79629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공명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(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共鳴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):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경청이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성립한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상태</a:t>
            </a:r>
            <a:endParaRPr lang="en-US" sz="26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공명(共鳴) 스테이션 — 이름과 표어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6273800"/>
            <a:ext cx="8623300" cy="5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9359900"/>
            <a:ext cx="86233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627140" y="4343400"/>
            <a:ext cx="79375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발화가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평가·교정·개종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권유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없이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수용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감정적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울림을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넘어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경청이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실제로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이루어졌음을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뜻한다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다종교·지자체·복지·무종교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배경이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함께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사용할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수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있다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14735" y="7442200"/>
            <a:ext cx="79375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예배당에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가지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않아도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내려놓을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수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있는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생활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거점이다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표어는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「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듣고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있습니다」와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「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말씀해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주십시오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」.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해결이나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설교가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아닌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현존과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초대를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선언한다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14735" y="6731000"/>
            <a:ext cx="79629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스테이션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: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일상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속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내려놓음의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거점</a:t>
            </a:r>
            <a:endParaRPr lang="en-US" sz="26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pic>
        <p:nvPicPr>
          <p:cNvPr id="19" name="그림 18" descr="8.3만개의 Concentric waves 로열티 프리 이미지 및 스톡 사진 | Shutterstock">
            <a:extLst>
              <a:ext uri="{FF2B5EF4-FFF2-40B4-BE49-F238E27FC236}">
                <a16:creationId xmlns:a16="http://schemas.microsoft.com/office/drawing/2014/main" id="{05B60D4A-8BE3-1180-5B50-A14237B5F20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9048"/>
          <a:stretch>
            <a:fillRect/>
          </a:stretch>
        </p:blipFill>
        <p:spPr>
          <a:xfrm>
            <a:off x="1725132" y="3146647"/>
            <a:ext cx="5712905" cy="2684293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1083464-B975-A9BE-80C7-6B838EFAEE6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alphaModFix amt="5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698" y="5819421"/>
            <a:ext cx="4227771" cy="4227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6600" y="4038600"/>
            <a:ext cx="6083300" cy="400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10800000">
            <a:off x="2019300" y="3098800"/>
            <a:ext cx="6083300" cy="5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06600" y="2781300"/>
            <a:ext cx="6083300" cy="1270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10800000">
            <a:off x="2006600" y="7975600"/>
            <a:ext cx="60833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387600" y="4229100"/>
            <a:ext cx="54102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-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진리·교리의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대규모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전파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-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예배당·사찰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집회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중심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-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원거리의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절대자로서의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신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-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AI에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의한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사제·신의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대체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82800" y="3149600"/>
            <a:ext cx="59309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기존</a:t>
            </a:r>
            <a:r>
              <a:rPr lang="en-US" sz="30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30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중심</a:t>
            </a:r>
            <a:endParaRPr lang="en-US" sz="30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46200" y="1015999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2035년의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사회</a:t>
            </a: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조건과</a:t>
            </a:r>
            <a:r>
              <a:rPr lang="en-US" sz="6000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전환</a:t>
            </a:r>
            <a:endParaRPr lang="en-US" sz="6000" b="0" i="0" u="none" strike="noStrike" dirty="0">
              <a:solidFill>
                <a:srgbClr val="000000"/>
              </a:solidFill>
              <a:latin typeface="HanbatBatang Bold"/>
              <a:ea typeface="HanbatBatang Bold"/>
              <a:cs typeface="HanbatBatang Bold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61600" y="4038600"/>
            <a:ext cx="6083300" cy="400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10800000">
            <a:off x="10261600" y="3098800"/>
            <a:ext cx="60833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61600" y="2781300"/>
            <a:ext cx="6083300" cy="1270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10800000">
            <a:off x="10261600" y="7975600"/>
            <a:ext cx="6083300" cy="50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642600" y="4229100"/>
            <a:ext cx="54102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- Micro-Care: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미시적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경청과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위로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-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일상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부스에서의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내려놓음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-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취약함이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수용되는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연대의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순간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- AI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Bridge에서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인간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전문가로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연계</a:t>
            </a:r>
            <a:endParaRPr lang="en-US" sz="21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337800" y="3149600"/>
            <a:ext cx="59309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000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새로운 목표</a:t>
            </a:r>
            <a:endParaRPr lang="en-US" sz="30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FF603B22-F682-14CA-6B69-2B477131C896}"/>
              </a:ext>
            </a:extLst>
          </p:cNvPr>
          <p:cNvSpPr/>
          <p:nvPr/>
        </p:nvSpPr>
        <p:spPr>
          <a:xfrm>
            <a:off x="8694373" y="5128769"/>
            <a:ext cx="978408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4300" y="6299200"/>
            <a:ext cx="5080000" cy="337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1600" y="2705100"/>
            <a:ext cx="7785100" cy="337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2705100"/>
            <a:ext cx="7785100" cy="337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3700" y="6299200"/>
            <a:ext cx="5080000" cy="3378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51881" y="6318102"/>
            <a:ext cx="5080000" cy="3378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상징 — 파동과 로고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1800" y="3302000"/>
            <a:ext cx="71882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잔잔한 파동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63700" y="4013200"/>
            <a:ext cx="74041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화면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중앙의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원형과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잔잔한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빛으로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파동을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표현한다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 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과장된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이퀄라이저는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배제한다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28200" y="3302000"/>
            <a:ext cx="71882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발화와 침묵의 반응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02800" y="4013200"/>
            <a:ext cx="71882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발화할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때는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음성에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따라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완만하게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반응하고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침묵할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때는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느리게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맥동한다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89100" y="6743700"/>
            <a:ext cx="45466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파동의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의미</a:t>
            </a:r>
            <a:endParaRPr lang="en-US" sz="26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89100" y="7442200"/>
            <a:ext cx="45339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발화가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허공에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소실되지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않고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수용됨을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표시한다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61200" y="6743700"/>
            <a:ext cx="45466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로고의 방향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61200" y="7442200"/>
            <a:ext cx="45339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파동과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여백을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단순화해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비움과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반응성을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가시화한다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68200" y="6743700"/>
            <a:ext cx="45466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상징의 한계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68200" y="7442200"/>
            <a:ext cx="45339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십자가·불상·위패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등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특정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성물은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기본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배치에서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배제한다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의례 — 「내려놓음의 대화」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4FA893C-1984-73DF-E5AA-8166945403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" y="2458484"/>
            <a:ext cx="16701681" cy="7398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 descr="추상 기술 점과 선 연결 디지털 글로벌 비즈니스 개념 디자인 배경 소셜 네트워크 통신 벡터 일러스트 레이 션 | 프리미엄 벡터">
            <a:extLst>
              <a:ext uri="{FF2B5EF4-FFF2-40B4-BE49-F238E27FC236}">
                <a16:creationId xmlns:a16="http://schemas.microsoft.com/office/drawing/2014/main" id="{966EC7E1-3B35-1CC3-7E17-3ACAFEDDB0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26286" y="2186280"/>
            <a:ext cx="12161579" cy="8120672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49400" y="2984500"/>
            <a:ext cx="4876800" cy="3606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49400" y="2984500"/>
            <a:ext cx="4876800" cy="5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8893" y="6540500"/>
            <a:ext cx="4876800" cy="50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651000" y="4356100"/>
            <a:ext cx="46863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성명·얼굴·연락처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교환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없이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유사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경험을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간접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청취한다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익명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클립은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동의할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때만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수집한다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03400" y="3733800"/>
            <a:ext cx="4381500" cy="508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24499"/>
              </a:lnSpc>
            </a:pPr>
            <a:r>
              <a:rPr lang="en-US" sz="27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익명의 느슨한 연대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공동체와 윤리 원칙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0700" y="2984500"/>
            <a:ext cx="4876800" cy="3606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0700" y="2984500"/>
            <a:ext cx="48768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90193" y="6540500"/>
            <a:ext cx="4876800" cy="50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7137400" y="4356100"/>
            <a:ext cx="43561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평가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금지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휘발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위험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예외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해악에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대한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단호함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규모·경계를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원칙으로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삼는다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24700" y="3733800"/>
            <a:ext cx="4381500" cy="508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24499"/>
              </a:lnSpc>
            </a:pPr>
            <a:r>
              <a:rPr lang="en-US" sz="27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다섯 가지 윤리 원칙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115800" y="2984500"/>
            <a:ext cx="4889500" cy="3606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15800" y="2984500"/>
            <a:ext cx="4889500" cy="50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35293" y="6540500"/>
            <a:ext cx="4889500" cy="50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255500" y="4356100"/>
            <a:ext cx="46101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5289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자·타해 위험은 최소 정보로 인간 전문가에게 연계한다. 인원 결집·세력화·AI 숭배는 금지한다.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69800" y="3733800"/>
            <a:ext cx="4381500" cy="508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24499"/>
              </a:lnSpc>
            </a:pPr>
            <a:r>
              <a:rPr lang="en-US" sz="27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위험 대응과 규모의 경계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성스러운 공간 — 1인 방음 부스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184ED97-F0F0-8FF6-D95D-D692BFD736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2851503"/>
            <a:ext cx="15240000" cy="68022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0" y="6184900"/>
            <a:ext cx="1206500" cy="55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06600" y="5346700"/>
            <a:ext cx="6083300" cy="400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10800000">
            <a:off x="2019300" y="4406900"/>
            <a:ext cx="6083300" cy="5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06600" y="4089400"/>
            <a:ext cx="6083300" cy="1270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-10800000">
            <a:off x="2006600" y="9283700"/>
            <a:ext cx="60833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171700" y="5537200"/>
            <a:ext cx="57531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감정·사건·신체·관계를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반영하고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짧은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위로를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제공한다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위험이나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심화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돌봄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본인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요청이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발생하면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성직자·복지사·상담·핫라인으로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연계한다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2800" y="4457700"/>
            <a:ext cx="59309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AI가 수행하는 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6200" y="2717800"/>
            <a:ext cx="15671800" cy="6477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107899"/>
              </a:lnSpc>
            </a:pPr>
            <a:r>
              <a:rPr lang="en-US" sz="35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AI는</a:t>
            </a:r>
            <a:r>
              <a:rPr lang="en-US" sz="35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35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신성적</a:t>
            </a:r>
            <a:r>
              <a:rPr lang="en-US" sz="35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35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존재가</a:t>
            </a:r>
            <a:r>
              <a:rPr lang="en-US" sz="35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35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아니라</a:t>
            </a:r>
            <a:r>
              <a:rPr lang="en-US" sz="35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1차 </a:t>
            </a:r>
            <a:r>
              <a:rPr lang="en-US" sz="35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경청과</a:t>
            </a:r>
            <a:r>
              <a:rPr lang="en-US" sz="35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35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즉각적</a:t>
            </a:r>
            <a:r>
              <a:rPr lang="en-US" sz="35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35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위로를</a:t>
            </a:r>
            <a:r>
              <a:rPr lang="en-US" sz="35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35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제공하는</a:t>
            </a:r>
            <a:r>
              <a:rPr lang="en-US" sz="35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35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매개체다</a:t>
            </a:r>
            <a:r>
              <a:rPr lang="en-US" sz="35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6200" y="1042581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AI의</a:t>
            </a: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Bridge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역할과</a:t>
            </a: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세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가지</a:t>
            </a: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기능</a:t>
            </a:r>
            <a:endParaRPr lang="en-US" sz="6000" b="0" i="0" u="none" strike="noStrike" dirty="0">
              <a:solidFill>
                <a:srgbClr val="000000"/>
              </a:solidFill>
              <a:latin typeface="HanbatBatang Bold"/>
              <a:ea typeface="HanbatBatang Bold"/>
              <a:cs typeface="HanbatBatang Bold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61600" y="5346700"/>
            <a:ext cx="6083300" cy="400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10800000">
            <a:off x="10261600" y="4406900"/>
            <a:ext cx="60833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61600" y="4089400"/>
            <a:ext cx="6083300" cy="1270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10800000">
            <a:off x="10261600" y="9283700"/>
            <a:ext cx="6083300" cy="50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464800" y="5397500"/>
            <a:ext cx="5676900" cy="299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교리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강의·확정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진단·숙제·점수화를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배제한다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절대자나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구원자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행세를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하지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않으며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</a:p>
          <a:p>
            <a:pPr lvl="0" algn="l">
              <a:lnSpc>
                <a:spcPct val="135289"/>
              </a:lnSpc>
            </a:pP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가상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종교지도자는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경청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보조의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시각적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매개로만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21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사용한다</a:t>
            </a:r>
            <a:r>
              <a:rPr lang="en-US" sz="21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 </a:t>
            </a:r>
          </a:p>
          <a:p>
            <a:pPr lvl="0" algn="l">
              <a:lnSpc>
                <a:spcPct val="135289"/>
              </a:lnSpc>
            </a:pPr>
            <a:endParaRPr lang="en-US" sz="2100" b="0" i="0" u="none" strike="noStrike" dirty="0" err="1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337800" y="4457700"/>
            <a:ext cx="59309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AI가 배제해야 할 역할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설계의</a:t>
            </a: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작동</a:t>
            </a:r>
            <a:r>
              <a:rPr lang="en-US" sz="6000" b="0" i="0" u="none" strike="noStrike" dirty="0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 </a:t>
            </a:r>
            <a:r>
              <a:rPr lang="en-US" sz="6000" b="0" i="0" u="none" strike="noStrike" dirty="0" err="1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방식</a:t>
            </a:r>
            <a:endParaRPr lang="en-US" sz="6000" b="0" i="0" u="none" strike="noStrike" dirty="0">
              <a:solidFill>
                <a:srgbClr val="000000"/>
              </a:solidFill>
              <a:latin typeface="HanbatBatang Bold"/>
              <a:ea typeface="HanbatBatang Bold"/>
              <a:cs typeface="HanbatBatang Bold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14490B1-59EA-DDD7-883A-76AFC242A0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658" y="2628900"/>
            <a:ext cx="16056883" cy="7230463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4300" y="6299200"/>
            <a:ext cx="5080000" cy="337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1600" y="2705100"/>
            <a:ext cx="7785100" cy="337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2660650"/>
            <a:ext cx="7785100" cy="337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3700" y="6299200"/>
            <a:ext cx="5080000" cy="3378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03100" y="6299200"/>
            <a:ext cx="5080000" cy="3378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제출 계획과 평가지표 대응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9395" y="3225800"/>
            <a:ext cx="71882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①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주력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: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웹·키오스크</a:t>
            </a:r>
            <a:r>
              <a:rPr lang="en-US" sz="26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6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프로토타입</a:t>
            </a:r>
            <a:endParaRPr lang="en-US" sz="26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89395" y="3924300"/>
            <a:ext cx="5168605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경청→위로→연대의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핵심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동작을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체험하게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합니다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  <a:p>
            <a:pPr lvl="0" algn="l">
              <a:lnSpc>
                <a:spcPct val="135289"/>
              </a:lnSpc>
            </a:pP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웹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또는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키오스크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형태로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제출하며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주력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결과물은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실제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이용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흐름을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보여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줍니다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15795" y="3225800"/>
            <a:ext cx="71882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② 보조: 의례 영상 또는 AI 이미지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15795" y="3924300"/>
            <a:ext cx="7048205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3–5분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의례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영상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또는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AI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이미지로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상징·공간·흐름을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보완합니다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  <a:p>
            <a:pPr lvl="0" algn="l">
              <a:lnSpc>
                <a:spcPct val="135289"/>
              </a:lnSpc>
            </a:pP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로고·성전·음악·가상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지도자는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AI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활용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항목에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대응해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시각적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분위기를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제시합니다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2053" y="6680200"/>
            <a:ext cx="45466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보강 항목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0199" y="7378700"/>
            <a:ext cx="4546601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거룩함·의례·다종교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인프라·연장재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논리</a:t>
            </a:r>
            <a:endParaRPr lang="en-US" sz="19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l">
              <a:lnSpc>
                <a:spcPct val="135289"/>
              </a:lnSpc>
            </a:pP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Durkheim·Weber·Buber·Nouwen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이론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매핑</a:t>
            </a:r>
            <a:endParaRPr lang="en-US" sz="19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064153" y="6680200"/>
            <a:ext cx="45466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종교학적 설득력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10399" y="7378700"/>
            <a:ext cx="4546601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일상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부스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노인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접근성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,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위험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시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인간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전문가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연계</a:t>
            </a:r>
            <a:endParaRPr lang="en-US" sz="19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l">
              <a:lnSpc>
                <a:spcPct val="135289"/>
              </a:lnSpc>
            </a:pP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생활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동선에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맞춘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현실적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활용성</a:t>
            </a:r>
            <a:endParaRPr lang="en-US" sz="19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423553" y="6680200"/>
            <a:ext cx="45466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현실 활용성과 완성도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23553" y="7378700"/>
            <a:ext cx="47879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5289"/>
              </a:lnSpc>
            </a:pP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체험물·보고서·발표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자료·시각·영상</a:t>
            </a:r>
            <a:endParaRPr lang="en-US" sz="19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  <a:p>
            <a:pPr lvl="0" algn="l">
              <a:lnSpc>
                <a:spcPct val="135289"/>
              </a:lnSpc>
            </a:pP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세계관·프로토타입·시각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/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영상</a:t>
            </a:r>
            <a:r>
              <a:rPr lang="en-US" sz="1900" b="0" i="0" u="none" strike="noStrike" dirty="0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 팀 </a:t>
            </a:r>
            <a:r>
              <a:rPr lang="en-US" sz="1900" b="0" i="0" u="none" strike="noStrike" dirty="0" err="1">
                <a:solidFill>
                  <a:srgbClr val="000000"/>
                </a:solidFill>
                <a:latin typeface="HanbatBatang Light"/>
                <a:ea typeface="HanbatBatang Light"/>
                <a:cs typeface="HanbatBatang Light"/>
              </a:rPr>
              <a:t>분담</a:t>
            </a:r>
            <a:endParaRPr lang="en-US" sz="1900" b="0" i="0" u="none" strike="noStrike" dirty="0">
              <a:solidFill>
                <a:srgbClr val="000000"/>
              </a:solidFill>
              <a:latin typeface="HanbatBatang Light"/>
              <a:ea typeface="HanbatBatang Light"/>
              <a:cs typeface="HanbatBatang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84300" y="1016000"/>
            <a:ext cx="162941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기존 종교와의 관계 및 결론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C79517F-0340-5D3A-0E6A-A899AB35C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2349500"/>
            <a:ext cx="14095929" cy="76024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635000"/>
            <a:ext cx="166370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19100" y="939800"/>
            <a:ext cx="876300" cy="1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96900"/>
            <a:ext cx="3162300" cy="17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" y="596900"/>
            <a:ext cx="25273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4014" y="2673793"/>
            <a:ext cx="16243300" cy="6959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84300" y="1016000"/>
            <a:ext cx="16827500" cy="10922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HanbatBatang Bold"/>
                <a:ea typeface="HanbatBatang Bold"/>
                <a:cs typeface="HanbatBatang Bold"/>
              </a:rPr>
              <a:t>결론 — 경청 주체가 부족한 사회에서의 종교의 역할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000" y="3162300"/>
            <a:ext cx="15786100" cy="434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공명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스테이션은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숭배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대상을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새로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세우지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않습니다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AI는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절대자가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아니라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인간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전문가로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연결하는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Bridge입니다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기존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종교를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대체하지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않고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일상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가까이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돌봄을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확장합니다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종교의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역할을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Micro-Care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영적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인프라로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이전하는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모델입니다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Durkheim·Otto·Eliade·Nouwen·Weber·Buber·Levinas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등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사상과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고립·돌봄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연구에</a:t>
            </a:r>
            <a:r>
              <a:rPr lang="en-US" sz="2700" b="0" i="0" u="none" strike="noStrike" dirty="0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 </a:t>
            </a:r>
            <a:r>
              <a:rPr lang="en-US" sz="2700" b="0" i="0" u="none" strike="noStrike" dirty="0" err="1">
                <a:solidFill>
                  <a:srgbClr val="000000"/>
                </a:solidFill>
                <a:latin typeface="THELuxGoM"/>
                <a:ea typeface="THELuxGoM"/>
                <a:cs typeface="THELuxGoM"/>
              </a:rPr>
              <a:t>기반합니다</a:t>
            </a:r>
            <a:endParaRPr lang="en-US" sz="2700" b="0" i="0" u="none" strike="noStrike" dirty="0">
              <a:solidFill>
                <a:srgbClr val="000000"/>
              </a:solidFill>
              <a:latin typeface="THELuxGoM"/>
              <a:ea typeface="THELuxGoM"/>
              <a:cs typeface="THELuxGo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722</Words>
  <Application>Microsoft Office PowerPoint</Application>
  <PresentationFormat>사용자 지정</PresentationFormat>
  <Paragraphs>108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Calibri</vt:lpstr>
      <vt:lpstr>HanbatBatang Bold</vt:lpstr>
      <vt:lpstr>Arial</vt:lpstr>
      <vt:lpstr>THELuxGoEB</vt:lpstr>
      <vt:lpstr>HanbatBatang Light</vt:lpstr>
      <vt:lpstr>맑은 고딕</vt:lpstr>
      <vt:lpstr>THELuxGoM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Emily Jung</cp:lastModifiedBy>
  <cp:revision>5</cp:revision>
  <dcterms:created xsi:type="dcterms:W3CDTF">2006-08-16T00:00:00Z</dcterms:created>
  <dcterms:modified xsi:type="dcterms:W3CDTF">2026-09-15T12:48:59Z</dcterms:modified>
</cp:coreProperties>
</file>